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7315200" cy="7315200"/>
          </a:xfrm>
          <a:prstGeom prst="ellipse">
            <a:avLst/>
          </a:prstGeom>
          <a:solidFill>
            <a:srgbClr val="6C63FF">
              <a:alpha val="3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0" y="2743200"/>
            <a:ext cx="5486400" cy="5486400"/>
          </a:xfrm>
          <a:prstGeom prst="ellipse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144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12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AI for every assistant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548640" y="28346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room with your phone. Get a 3D Gaussian-splat world that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Claude, ChatGPT, Gemini, and Copilot can see, measure, and reason about, all over MCP.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251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rakuai.com   ·   Investor &amp; partner deck   ·   2026</a:t>
            </a:r>
            <a:pPr indent="0" marL="0">
              <a:buNone/>
            </a:pPr>
            <a:pPr indent="0" marL="0">
              <a:buNone/>
            </a:pPr>
            <a:endParaRPr 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548640" y="3850000"/>
            <a:ext cx="804672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 b="1">
                <a:solidFill>
                  <a:srgbClr val="7A7A9A"/>
                </a:solidFill>
                <a:latin typeface="Calibri"/>
              </a:rPr>
              <a:t>NVIDIA Inception Member  ·  AWS Activate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assistants are blind to physical space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LLMs can read your code, your email, and your data, yet they can't see your room.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274320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260604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0632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any 3D awareness in today's AI assistants by default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554480"/>
            <a:ext cx="2606040" cy="274320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554480"/>
            <a:ext cx="260604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4612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3246120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billion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29000" y="30632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phones already pack the camera and compute to capture one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554480"/>
            <a:ext cx="2606040" cy="274320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1554480"/>
            <a:ext cx="260604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3504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6400" dirty="0"/>
          </a:p>
        </p:txBody>
      </p:sp>
      <p:sp>
        <p:nvSpPr>
          <p:cNvPr id="17" name="Text 15"/>
          <p:cNvSpPr/>
          <p:nvPr/>
        </p:nvSpPr>
        <p:spPr>
          <a:xfrm>
            <a:off x="6035040" y="274320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217920" y="3063240"/>
            <a:ext cx="22402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standard protocol every modern assistant now speaks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 = phone → 3D world → AI sees it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capture-first spatial AI platform built on Gaussian splats and MCP.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2606040" cy="288036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17320" y="1691640"/>
            <a:ext cx="685800" cy="685800"/>
          </a:xfrm>
          <a:prstGeom prst="ellipse">
            <a:avLst/>
          </a:prstGeom>
          <a:solidFill>
            <a:srgbClr val="1D1D2A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8288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CAPTURE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28346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phone walkthrough captures the space in 30 to 60 seconds. The PWA installs from any mobile browser and works offline.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46120" y="1508760"/>
            <a:ext cx="2606040" cy="288036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206240" y="1691640"/>
            <a:ext cx="685800" cy="685800"/>
          </a:xfrm>
          <a:prstGeom prst="ellipse">
            <a:avLst/>
          </a:prstGeom>
          <a:solidFill>
            <a:srgbClr val="1D1D2A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82880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4612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RECONSTRUCT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29000" y="28346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COLMAP → GLOMAP → Brush → splat-transform. A real Gaussian-splat .spz lands on CDN with a metric scale solved from a credit-card reference.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35040" y="1508760"/>
            <a:ext cx="2606040" cy="288036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995160" y="1691640"/>
            <a:ext cx="685800" cy="685800"/>
          </a:xfrm>
          <a:prstGeom prst="ellipse">
            <a:avLst/>
          </a:prstGeom>
          <a:solidFill>
            <a:srgbClr val="1D1D2A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8288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035040" y="24688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REASON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217920" y="2834640"/>
            <a:ext cx="2240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is exposed to LLMs over MCP. Claude/ChatGPT/Gemini can query geometry, run measurements, run spatial reasoning prompts.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8638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all real today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production at rakuai.com. 5 patents. 9,500+ API endpoints. C++ engine, Python orchestration, PWA.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82296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109728" cy="8229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62763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raku-runtime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933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ENGINE · MCP SURFACE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520440" y="169164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spatial engine across 18 native DLLs. Exposes thousands of functions over MCP through 17 native tools. Smart-glasses + Android XR launchable web-app entry.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514600"/>
            <a:ext cx="8229600" cy="82296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14600"/>
            <a:ext cx="109728" cy="8229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5877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raku-api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31520" y="2953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BACKEND · 9,500+ ENDPOINTS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520440" y="265176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orchestration. Job pipeline. Capture lifecycle + accounts + connect-flow + GPU upload routing. Redis-backed multi-instance state.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74720"/>
            <a:ext cx="8229600" cy="82296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474720"/>
            <a:ext cx="109728" cy="82296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4787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raku-capture PWA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1520" y="3913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· OFFLINE SHELL · WALK-THE-ROOM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20440" y="3611880"/>
            <a:ext cx="5074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Installable phone PWA. Guided capture, live coverage heuristic, splat viewer (Spark + three.js). Hosted at rakuai.com.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8638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GPU-accelerated reconstruction pipeline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pipeline is GPU-bound from camera-pose recovery to splat training.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219456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37744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COLMAP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CUDA feature extraction + matching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60–120s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560320" y="1554480"/>
            <a:ext cx="1920240" cy="219456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5176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GLOMAP / FASTMAP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97480" y="2148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Camera-pose recovery (CUDA)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9748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1920240" cy="219456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246888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475488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800600" y="2148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Gaussian-splat training (wgpu / Vulkan)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0060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2–6 min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766560" y="1554480"/>
            <a:ext cx="1920240" cy="219456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0" y="169164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splat-transform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903720" y="2148840"/>
            <a:ext cx="1645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 to .spz (CPU)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90372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5–15s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8229600" cy="594360"/>
          </a:xfrm>
          <a:prstGeom prst="rect">
            <a:avLst/>
          </a:prstGeom>
          <a:solidFill>
            <a:srgbClr val="1D1D2A"/>
          </a:solidFill>
          <a:ln w="12700">
            <a:solidFill>
              <a:srgbClr val="2A2A3A"/>
            </a:solidFill>
            <a:prstDash val="solid"/>
          </a:ln>
        </p:spPr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023360"/>
            <a:ext cx="411480" cy="4114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188720" y="4023360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GPUs: L40S, A10, A100. Target time-to-splat: &lt; 8 min per scan. Cost target: &lt; $0.50 per reconstruction.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8638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waves landed in the same 18-month window.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8229600" cy="86868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55648"/>
            <a:ext cx="457200" cy="457200"/>
          </a:xfrm>
          <a:prstGeom prst="ellipse">
            <a:avLst/>
          </a:prstGeom>
          <a:solidFill>
            <a:srgbClr val="1D1D2A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28800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642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is here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371600" y="199339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shipped the Model Context Protocol. Claude, ChatGPT, Gemini all consume it. A standardized way to give LLMs spatial tools didn't exist before 2024.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8229600" cy="86868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85800" y="2761488"/>
            <a:ext cx="457200" cy="457200"/>
          </a:xfrm>
          <a:prstGeom prst="ellipse">
            <a:avLst/>
          </a:prstGeom>
          <a:solidFill>
            <a:srgbClr val="1D1D2A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28346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67004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splats matured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371600" y="299923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Brush, Spark, three-gs. Real-time splat rendering on phones is now a solved problem. The 3D representation just works.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57200" y="3566160"/>
            <a:ext cx="8229600" cy="86868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85800" y="3767328"/>
            <a:ext cx="457200" cy="457200"/>
          </a:xfrm>
          <a:prstGeom prst="ellipse">
            <a:avLst/>
          </a:prstGeom>
          <a:solidFill>
            <a:srgbClr val="1D1D2A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3840480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6758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glasses launching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371600" y="4005072"/>
            <a:ext cx="7132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Ray-Ban Display ships installable web apps. Android XR opens the same path. The capture-and-view loop closes.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8638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camera. Every assistant.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glasses render, the phone or edge computes. One runtime, three device classes, every assistant.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2606040" cy="109728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594360" cy="5943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PWA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463040" y="2377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874520"/>
            <a:ext cx="2606040" cy="109728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2057400"/>
            <a:ext cx="594360" cy="5943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5196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Ray-Ban Display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251960" y="2377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Web-app path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035040" y="1874520"/>
            <a:ext cx="2606040" cy="109728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057400"/>
            <a:ext cx="594360" cy="5943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040880" y="2011680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XR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7040880" y="237744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web path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57200" y="3200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ASSISTANTS (via MCP)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57200" y="3520440"/>
            <a:ext cx="2606040" cy="109728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457200" y="3657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457200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native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3246120" y="3520440"/>
            <a:ext cx="2606040" cy="109728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3246120" y="3657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3246120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via connector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6035040" y="3520440"/>
            <a:ext cx="2606040" cy="109728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6035040" y="365760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</a:t>
            </a:r>
            <a:endParaRPr lang="en-US" sz="1800" dirty="0"/>
          </a:p>
        </p:txBody>
      </p:sp>
      <p:sp>
        <p:nvSpPr>
          <p:cNvPr id="26" name="Text 21"/>
          <p:cNvSpPr/>
          <p:nvPr/>
        </p:nvSpPr>
        <p:spPr>
          <a:xfrm>
            <a:off x="6035040" y="40690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via connector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78638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wedges, one platform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any room can be queried by an LLM, use cases stack fast, from robotics and CV to enterprise.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4023360" cy="132588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91640"/>
            <a:ext cx="502920" cy="502920"/>
          </a:xfrm>
          <a:prstGeom prst="ellipse">
            <a:avLst/>
          </a:prstGeom>
          <a:solidFill>
            <a:srgbClr val="1D1D2A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376" y="1773936"/>
            <a:ext cx="338328" cy="33832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673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estate &amp; redesign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325880" y="2011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 property in 5 min; let buyers "walk" it with an AI guide. Redesign rooms with photoreal furniture (Meshy.ai integration).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508760"/>
            <a:ext cx="4023360" cy="132588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892040" y="1691640"/>
            <a:ext cx="502920" cy="502920"/>
          </a:xfrm>
          <a:prstGeom prst="ellipse">
            <a:avLst/>
          </a:prstGeom>
          <a:solidFill>
            <a:srgbClr val="1D1D2A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1773936"/>
            <a:ext cx="338328" cy="33832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77840" y="167335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&amp; inventory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5577840" y="201168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One-pass scan → itemized contents + measurements. For claims, moves, and downsizing, it replaces a clipboard with a 60-second capture.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017520"/>
            <a:ext cx="4023360" cy="132588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40080" y="3200400"/>
            <a:ext cx="502920" cy="502920"/>
          </a:xfrm>
          <a:prstGeom prst="ellipse">
            <a:avLst/>
          </a:prstGeom>
          <a:solidFill>
            <a:srgbClr val="1D1D2A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" y="3282696"/>
            <a:ext cx="338328" cy="33832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3182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32588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assistance for low-vision or wheelchair users. "Is there a step at the front door? Will my chair clear the hallway?"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09160" y="3017520"/>
            <a:ext cx="4023360" cy="132588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892040" y="3200400"/>
            <a:ext cx="502920" cy="502920"/>
          </a:xfrm>
          <a:prstGeom prst="ellipse">
            <a:avLst/>
          </a:prstGeom>
          <a:solidFill>
            <a:srgbClr val="1D1D2A"/>
          </a:solidFill>
          <a:ln w="12700">
            <a:solidFill>
              <a:srgbClr val="6C63FF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74336" y="3282696"/>
            <a:ext cx="338328" cy="33832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77840" y="318211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AR/VR creators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5577840" y="3520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Splat assets for game engines, training environments, and OpenXR previews, all from the same pipeline that powers consumer captures.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78638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shipped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code on three repos. Phase 1 + Phase 2 + Wave 1–3 merged to main.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0120" y="155448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capture PWA  ·  guided walkthrough  ·  PWA installable  ·  offline shell</a:t>
            </a:r>
            <a:endParaRPr lang="en-US" sz="1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057400"/>
            <a:ext cx="274320" cy="2743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60120" y="201168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Reconstruction pipeline  ·  SimulatedBackend + GlomapBrushBackend  ·  Redis-backed multi-instance job store</a:t>
            </a:r>
            <a:endParaRPr lang="en-US" sz="12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514600"/>
            <a:ext cx="274320" cy="2743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60120" y="246888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surface  ·  17 native tools  ·  spatial query layer  ·  reasoning prompt pack</a:t>
            </a:r>
            <a:endParaRPr lang="en-US" sz="12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71800"/>
            <a:ext cx="274320" cy="2743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60120" y="292608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flow for Claude/ChatGPT/Gemini  ·  hosted relay + raw API key path</a:t>
            </a:r>
            <a:endParaRPr lang="en-US" sz="120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429000"/>
            <a:ext cx="274320" cy="274320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960120" y="338328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Self-serve free tier  ·  tier-aware quotas  ·  Cloudflare R2 + CDN for asset delivery</a:t>
            </a:r>
            <a:endParaRPr lang="en-US" sz="120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3886200"/>
            <a:ext cx="274320" cy="2743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960120" y="3840480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CI on self-hosted runners  ·  1946/1969 tests passing  ·  76% coverage</a:t>
            </a:r>
            <a:endParaRPr lang="en-US" sz="1200" dirty="0"/>
          </a:p>
        </p:txBody>
      </p:sp>
      <p:sp>
        <p:nvSpPr>
          <p:cNvPr id="16" name="Shape 8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solidFill>
            <a:srgbClr val="1D1D2A"/>
          </a:solidFill>
          <a:ln w="12700">
            <a:solidFill>
              <a:srgbClr val="1D1D2A"/>
            </a:solidFill>
            <a:prstDash val="solid"/>
          </a:ln>
        </p:spPr>
      </p:sp>
      <p:sp>
        <p:nvSpPr>
          <p:cNvPr id="17" name="Text 9"/>
          <p:cNvSpPr/>
          <p:nvPr/>
        </p:nvSpPr>
        <p:spPr>
          <a:xfrm>
            <a:off x="640080" y="42976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Live: 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1097280" y="42976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rakuai.com  ·  github.com/RakuXR</a:t>
            </a:r>
            <a:endParaRPr lang="en-US" sz="1200" dirty="0"/>
          </a:p>
        </p:txBody>
      </p:sp>
      <p:sp>
        <p:nvSpPr>
          <p:cNvPr id="19" name="Shape 11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78638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bottleneck is GPU compute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layer of RakuAI is solved or cheap. Reconstruction GPUs are the line-item.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23360" cy="274320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4023360" cy="73152"/>
          </a:xfrm>
          <a:prstGeom prst="rect">
            <a:avLst/>
          </a:prstGeom>
          <a:solidFill>
            <a:srgbClr val="7A7A9A"/>
          </a:solidFill>
          <a:ln w="12700">
            <a:solidFill>
              <a:srgbClr val="7A7A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0574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SimulatedBackend on prod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.spz served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scale stays a documented SEAM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see placeholder geometry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663440" y="1554480"/>
            <a:ext cx="4023360" cy="274320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554480"/>
            <a:ext cx="4023360" cy="73152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GPU CREDITS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46320" y="2057400"/>
            <a:ext cx="3657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GlomapBrushBackend live on prod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Gaussian-splat .spz per scan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metric scale (cm-accurate)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query true room geometry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solidFill>
            <a:srgbClr val="1D1D2A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 target: $0.20–$0.50 GPU cost per reconstruction. Investment unlocks multi-cloud scale-out and the team to ship.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8638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quarters from credits to real spatial AI in users' hands.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920240" cy="2743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2026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920240" cy="237744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659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up real reconstruction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T2000 validation. Deploy GlomapBrushBackend to Azure / Modal. Flip mode=real on prod.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560320" y="1554480"/>
            <a:ext cx="1920240" cy="2743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828800"/>
            <a:ext cx="1920240" cy="237744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97480" y="19659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Smart-glasses path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97480" y="26060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Ray-Ban Display web-app launch. Capture-from-glasses pilot. Real-time scene query from the headset.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1554480"/>
            <a:ext cx="1920240" cy="2743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2026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828800"/>
            <a:ext cx="1920240" cy="237744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9659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+ multi-cloud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800600" y="26060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 5 pluggable worker. Multi-vendor inference evaluation for scene-reasoning. Creator-tool integrations (Meshy, Omniverse, etc.).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766560" y="1554480"/>
            <a:ext cx="1920240" cy="27432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15544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1828800"/>
            <a:ext cx="1920240" cy="237744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03720" y="1965960"/>
            <a:ext cx="1645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AI everywhere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2606040"/>
            <a:ext cx="16459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XR launch. SDK partner program. "Talk to any room" becomes table-stakes for assistants.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0"/>
            <a:ext cx="73152" cy="9144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863840" y="4754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6400800" cy="6400800"/>
          </a:xfrm>
          <a:prstGeom prst="ellipse">
            <a:avLst/>
          </a:prstGeom>
          <a:solidFill>
            <a:srgbClr val="6C63FF">
              <a:alpha val="25000"/>
            </a:srgbClr>
          </a:solidFill>
          <a:ln w="12700">
            <a:solidFill>
              <a:srgbClr val="6C63FF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6400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us.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AI is happening. RakuAI is the vendor-neutral runtime that connects every camera to every assistant.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160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 Griffin</a:t>
            </a:r>
            <a:pPr indent="0" marL="0">
              <a:buNone/>
            </a:pPr>
            <a:r>
              <a:rPr lang="en-US" sz="16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</a:t>
            </a:r>
            <a:pPr indent="0" marL="0">
              <a:buNone/>
            </a:pPr>
            <a:r>
              <a:rPr lang="en-US" sz="1400" dirty="0">
                <a:solidFill>
                  <a:srgbClr val="7A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RakuAI, LLC</a:t>
            </a:r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kevin@rakuai.com</a:t>
            </a:r>
            <a:pPr indent="0" marL="0">
              <a:buNone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</a:t>
            </a:r>
            <a:pPr indent="0" marL="0">
              <a:buNone/>
            </a:pPr>
            <a:r>
              <a:rPr lang="en-US" sz="14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rakuai.com</a:t>
            </a:r>
            <a:pPr indent="0" marL="0">
              <a:buNone/>
            </a:pPr>
            <a:r>
              <a:rPr lang="en-US" sz="1400" dirty="0">
                <a:solidFill>
                  <a:srgbClr val="2A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  ·   </a:t>
            </a:r>
            <a:pPr indent="0" marL="0">
              <a:buNone/>
            </a:pPr>
            <a:r>
              <a:rPr lang="en-US" sz="14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github.com/RakuXR</a:t>
            </a:r>
            <a:endParaRPr lang="en-US" sz="1600" dirty="0"/>
          </a:p>
        </p:txBody>
      </p:sp>
      <p:sp>
        <p:nvSpPr>
          <p:cNvPr id="9" name="Rectangle 8"/>
          <p:cNvSpPr/>
          <p:nvPr/>
        </p:nvSpPr>
        <p:spPr>
          <a:xfrm>
            <a:off x="457200" y="2487168"/>
            <a:ext cx="2590800" cy="164592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" y="2670048"/>
            <a:ext cx="20421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 b="1">
                <a:solidFill>
                  <a:srgbClr val="6C63FF"/>
                </a:solidFill>
                <a:latin typeface="Calibri"/>
              </a:rPr>
              <a:t>PARTNERS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35808"/>
            <a:ext cx="204216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00">
                <a:solidFill>
                  <a:srgbClr val="E8E8F0"/>
                </a:solidFill>
                <a:latin typeface="Calibri"/>
              </a:rPr>
              <a:t>Smart-glasses OEMs, LLM platforms, AI labs. Integrate the MCP capture surface, ship spatial agents to your users.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21608"/>
            <a:ext cx="204216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>
                <a:solidFill>
                  <a:srgbClr val="6C63FF"/>
                </a:solidFill>
                <a:latin typeface="Calibri"/>
              </a:rPr>
              <a:t>partners@rakuai.com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76600" y="2487168"/>
            <a:ext cx="2590800" cy="164592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550920" y="2670048"/>
            <a:ext cx="20421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 b="1">
                <a:solidFill>
                  <a:srgbClr val="6C63FF"/>
                </a:solidFill>
                <a:latin typeface="Calibri"/>
              </a:rPr>
              <a:t>INVESTORS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0920" y="3035808"/>
            <a:ext cx="204216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00">
                <a:solidFill>
                  <a:srgbClr val="E8E8F0"/>
                </a:solidFill>
                <a:latin typeface="Calibri"/>
              </a:rPr>
              <a:t>Seed round opening Q3 2026. GPU compute, graphics engineering hire, smart-glasses launch partners.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50920" y="3721608"/>
            <a:ext cx="204216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>
                <a:solidFill>
                  <a:srgbClr val="6C63FF"/>
                </a:solidFill>
                <a:latin typeface="Calibri"/>
              </a:rPr>
              <a:t>kevin@rakuai.com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2487168"/>
            <a:ext cx="2590800" cy="1645920"/>
          </a:xfrm>
          <a:prstGeom prst="rect">
            <a:avLst/>
          </a:prstGeom>
          <a:solidFill>
            <a:srgbClr val="16161F"/>
          </a:solidFill>
          <a:ln w="12700">
            <a:solidFill>
              <a:srgbClr val="2A2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370320" y="2670048"/>
            <a:ext cx="2042160" cy="320040"/>
          </a:xfrm>
          <a:prstGeom prst="rect">
            <a:avLst/>
          </a:prstGeom>
          <a:noFill/>
        </p:spPr>
        <p:txBody>
          <a:bodyPr wrap="none" tIns="0" bIns="0">
            <a:spAutoFit/>
          </a:bodyPr>
          <a:lstStyle/>
          <a:p>
            <a:r>
              <a:rPr sz="1100" b="1">
                <a:solidFill>
                  <a:srgbClr val="6C63FF"/>
                </a:solidFill>
                <a:latin typeface="Calibri"/>
              </a:rPr>
              <a:t>DEVELOPERS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0320" y="3035808"/>
            <a:ext cx="2042160" cy="73152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100">
                <a:solidFill>
                  <a:srgbClr val="E8E8F0"/>
                </a:solidFill>
                <a:latin typeface="Calibri"/>
              </a:rPr>
              <a:t>MCP runtime preview, Brush+Spark splat tooling, free tier on rakuai.com.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70320" y="3721608"/>
            <a:ext cx="2042160" cy="320040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r>
              <a:rPr sz="1000" b="1">
                <a:solidFill>
                  <a:srgbClr val="6C63FF"/>
                </a:solidFill>
                <a:latin typeface="Calibri"/>
              </a:rPr>
              <a:t>github.com/RakuXR   ·   rakuai.com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RakuAI,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RakuAI — Spatial AI for every assistant</dc:title>
  <dc:subject>PptxGenJS Presentation</dc:subject>
  <dc:creator>RakuAI</dc:creator>
  <cp:lastModifiedBy>RakuAI</cp:lastModifiedBy>
  <cp:revision>1</cp:revision>
  <dcterms:created xsi:type="dcterms:W3CDTF">2026-05-26T21:36:00Z</dcterms:created>
  <dcterms:modified xsi:type="dcterms:W3CDTF">2026-05-26T21:36:00Z</dcterms:modified>
</cp:coreProperties>
</file>